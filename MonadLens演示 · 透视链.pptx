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82880"/>
          </a:xfrm>
          <a:prstGeom prst="roundRect">
            <a:avLst>
              <a:gd name="adj" fmla="val 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515600" cy="105092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6600" b="1">
                <a:solidFill>
                  <a:srgbClr val="FFFFFF"/>
                </a:solidFill>
                <a:latin typeface="微软雅黑" panose="020B0503020204020204" charset="-122"/>
              </a:rPr>
              <a:t>MonadLens</a:t>
            </a:r>
            <a:r>
              <a:rPr lang="en-US" sz="6600" b="1">
                <a:solidFill>
                  <a:srgbClr val="FFFFFF"/>
                </a:solidFill>
                <a:latin typeface="微软雅黑" panose="020B0503020204020204" charset="-122"/>
              </a:rPr>
              <a:t> </a:t>
            </a:r>
            <a:r>
              <a:rPr lang="zh-CN" altLang="en-US" sz="6600" b="1">
                <a:solidFill>
                  <a:srgbClr val="FFFFFF"/>
                </a:solidFill>
                <a:latin typeface="微软雅黑" panose="020B0503020204020204" charset="-122"/>
              </a:rPr>
              <a:t>· 透视链</a:t>
            </a:r>
            <a:endParaRPr lang="zh-CN" altLang="en-US" sz="6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3000" b="1">
                <a:solidFill>
                  <a:srgbClr val="8B5CF6"/>
                </a:solidFill>
                <a:latin typeface="微软雅黑" panose="020B0503020204020204" charset="-122"/>
              </a:rPr>
              <a:t>透视链 · 看清网络，看清后果</a:t>
            </a:r>
            <a:endParaRPr sz="3000" b="1">
              <a:solidFill>
                <a:srgbClr val="8B5CF6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10515600" cy="7315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800" b="0">
                <a:solidFill>
                  <a:srgbClr val="9CA3B8"/>
                </a:solidFill>
                <a:latin typeface="微软雅黑" panose="020B0503020204020204" charset="-122"/>
              </a:rPr>
              <a:t>在签名之前，先看清一笔交易到底会做什么</a:t>
            </a:r>
            <a:endParaRPr sz="18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108960" y="5074920"/>
            <a:ext cx="5943600" cy="64008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0" y="5138928"/>
            <a:ext cx="594360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500" b="0">
                <a:solidFill>
                  <a:srgbClr val="E9E9F2"/>
                </a:solidFill>
                <a:latin typeface="微软雅黑" panose="020B0503020204020204" charset="-122"/>
              </a:rPr>
              <a:t>LXDAO × Monad 黑客松  ·  2026</a:t>
            </a:r>
            <a:endParaRPr sz="1500" b="0">
              <a:solidFill>
                <a:srgbClr val="E9E9F2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微软雅黑" panose="020B0503020204020204" charset="-122"/>
              </a:rPr>
              <a:t>问题背景</a:t>
            </a:r>
            <a:endParaRPr sz="1300" b="1">
              <a:solidFill>
                <a:srgbClr val="8B5CF6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 panose="020B0503020204020204" charset="-122"/>
              </a:rPr>
              <a:t>链上交易的「盲签」之痛</a:t>
            </a:r>
            <a:endParaRPr sz="3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6675120" cy="42062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82296" cy="420624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911096"/>
            <a:ext cx="6291072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常见的 5 种风险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86384" y="2441448"/>
            <a:ext cx="6217920" cy="3383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微软雅黑" panose="020B0503020204020204" charset="-122"/>
              </a:rPr>
              <a:t>•  授权无感知：点一下「授权」，可能交出无限额度</a:t>
            </a:r>
            <a:endParaRPr sz="1600" b="0">
              <a:solidFill>
                <a:srgbClr val="E9E9F2"/>
              </a:solidFill>
              <a:latin typeface="微软雅黑" panose="020B0503020204020204" charset="-122"/>
            </a:endParaRP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微软雅黑" panose="020B0503020204020204" charset="-122"/>
              </a:rPr>
              <a:t>•  收款方被掉包：看似转给朋友，实际转给黑客地址</a:t>
            </a:r>
            <a:endParaRPr sz="1600" b="0">
              <a:solidFill>
                <a:srgbClr val="E9E9F2"/>
              </a:solidFill>
              <a:latin typeface="微软雅黑" panose="020B0503020204020204" charset="-122"/>
            </a:endParaRP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微软雅黑" panose="020B0503020204020204" charset="-122"/>
              </a:rPr>
              <a:t>•  金额被膨胀：1 MON 变 100 MON，签名时已晚</a:t>
            </a:r>
            <a:endParaRPr sz="1600" b="0">
              <a:solidFill>
                <a:srgbClr val="E9E9F2"/>
              </a:solidFill>
              <a:latin typeface="微软雅黑" panose="020B0503020204020204" charset="-122"/>
            </a:endParaRP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微软雅黑" panose="020B0503020204020204" charset="-122"/>
              </a:rPr>
              <a:t>•  夹带授权：一笔操作里偷偷塞进授权调用</a:t>
            </a:r>
            <a:endParaRPr sz="1600" b="0">
              <a:solidFill>
                <a:srgbClr val="E9E9F2"/>
              </a:solidFill>
              <a:latin typeface="微软雅黑" panose="020B0503020204020204" charset="-122"/>
            </a:endParaRP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微软雅黑" panose="020B0503020204020204" charset="-122"/>
              </a:rPr>
              <a:t>•  签名即失控：交易上链不可逆，错了追不回</a:t>
            </a:r>
            <a:endParaRPr sz="1600" b="0">
              <a:solidFill>
                <a:srgbClr val="E9E9F2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452360" y="1783080"/>
            <a:ext cx="4160520" cy="42062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52360" y="1783080"/>
            <a:ext cx="82296" cy="4206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79" y="2011680"/>
            <a:ext cx="365760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000" b="1">
                <a:solidFill>
                  <a:srgbClr val="F59E0B"/>
                </a:solidFill>
                <a:latin typeface="微软雅黑" panose="020B0503020204020204" charset="-122"/>
              </a:rPr>
              <a:t>真正的后果</a:t>
            </a:r>
            <a:endParaRPr sz="2000" b="1">
              <a:solidFill>
                <a:srgbClr val="F59E0B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726679" y="2743200"/>
            <a:ext cx="3657600" cy="14630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8000" b="1">
                <a:solidFill>
                  <a:srgbClr val="EF4444"/>
                </a:solidFill>
                <a:latin typeface="微软雅黑" panose="020B0503020204020204" charset="-122"/>
              </a:rPr>
              <a:t>0</a:t>
            </a:r>
            <a:endParaRPr sz="8000" b="1">
              <a:solidFill>
                <a:srgbClr val="EF4444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726679" y="4297680"/>
            <a:ext cx="3657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800" b="0">
                <a:solidFill>
                  <a:srgbClr val="9CA3B8"/>
                </a:solidFill>
                <a:latin typeface="微软雅黑" panose="020B0503020204020204" charset="-122"/>
              </a:rPr>
              <a:t>后悔药</a:t>
            </a:r>
            <a:endParaRPr sz="18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726679" y="4937760"/>
            <a:ext cx="3657600" cy="914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0">
                <a:solidFill>
                  <a:srgbClr val="E9E9F2"/>
                </a:solidFill>
                <a:latin typeface="微软雅黑" panose="020B0503020204020204" charset="-122"/>
              </a:rPr>
              <a:t>用户往往在签名之后，才发现资产已经被转走。</a:t>
            </a:r>
            <a:endParaRPr sz="1500" b="0">
              <a:solidFill>
                <a:srgbClr val="E9E9F2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微软雅黑" panose="020B0503020204020204" charset="-122"/>
              </a:rPr>
              <a:t>MonadLens · 看清网络，看清后果</a:t>
            </a:r>
            <a:endParaRPr sz="10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微软雅黑" panose="020B0503020204020204" charset="-122"/>
              </a:rPr>
              <a:t>2</a:t>
            </a:r>
            <a:endParaRPr sz="10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微软雅黑" panose="020B0503020204020204" charset="-122"/>
              </a:rPr>
              <a:t>产品定位</a:t>
            </a:r>
            <a:endParaRPr sz="1300" b="1">
              <a:solidFill>
                <a:srgbClr val="8B5CF6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49720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 panose="020B0503020204020204" charset="-122"/>
              </a:rPr>
              <a:t>MonadLens</a:t>
            </a:r>
            <a:r>
              <a:rPr lang="en-US" sz="3000" b="1">
                <a:solidFill>
                  <a:srgbClr val="FFFFFF"/>
                </a:solidFill>
                <a:latin typeface="微软雅黑" panose="020B0503020204020204" charset="-122"/>
              </a:rPr>
              <a:t> </a:t>
            </a:r>
            <a:r>
              <a:rPr lang="zh-CN" altLang="en-US" sz="3000" b="1">
                <a:solidFill>
                  <a:srgbClr val="FFFFFF"/>
                </a:solidFill>
                <a:latin typeface="微软雅黑" panose="020B0503020204020204" charset="-122"/>
              </a:rPr>
              <a:t>· 透视链</a:t>
            </a:r>
            <a:r>
              <a:rPr sz="3000" b="1">
                <a:solidFill>
                  <a:srgbClr val="FFFFFF"/>
                </a:solidFill>
                <a:latin typeface="微软雅黑" panose="020B0503020204020204" charset="-122"/>
              </a:rPr>
              <a:t> 是什么</a:t>
            </a:r>
            <a:endParaRPr sz="3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7315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900" b="0">
                <a:solidFill>
                  <a:srgbClr val="E9E9F2"/>
                </a:solidFill>
                <a:latin typeface="微软雅黑" panose="020B0503020204020204" charset="-122"/>
              </a:rPr>
              <a:t>一个把「签名前后果」可视化、可对话、可拦截的链上安全助手。</a:t>
            </a:r>
            <a:endParaRPr sz="1900" b="0">
              <a:solidFill>
                <a:srgbClr val="E9E9F2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3520440" cy="292608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514600"/>
            <a:ext cx="82296" cy="2926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834640"/>
            <a:ext cx="3520440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4000" b="0">
                <a:solidFill>
                  <a:srgbClr val="22D3EE"/>
                </a:solidFill>
                <a:latin typeface="微软雅黑" panose="020B0503020204020204" charset="-122"/>
              </a:rPr>
              <a:t>📊</a:t>
            </a:r>
            <a:endParaRPr sz="4000" b="0">
              <a:solidFill>
                <a:srgbClr val="22D3EE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3749040"/>
            <a:ext cx="352044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实时看板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4389119"/>
            <a:ext cx="3154680" cy="914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0">
                <a:solidFill>
                  <a:srgbClr val="9CA3B8"/>
                </a:solidFill>
                <a:latin typeface="微软雅黑" panose="020B0503020204020204" charset="-122"/>
              </a:rPr>
              <a:t>把链上数据变成看得懂的画面</a:t>
            </a:r>
            <a:endParaRPr sz="15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15968" y="2514600"/>
            <a:ext cx="3520440" cy="292608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5968" y="2514600"/>
            <a:ext cx="82296" cy="29260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15968" y="2834640"/>
            <a:ext cx="3520440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4000" b="0">
                <a:solidFill>
                  <a:srgbClr val="8B5CF6"/>
                </a:solidFill>
                <a:latin typeface="微软雅黑" panose="020B0503020204020204" charset="-122"/>
              </a:rPr>
              <a:t>🤖</a:t>
            </a:r>
            <a:endParaRPr sz="4000" b="0">
              <a:solidFill>
                <a:srgbClr val="8B5CF6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315968" y="3749040"/>
            <a:ext cx="352044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AI 对话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498848" y="4389119"/>
            <a:ext cx="3154680" cy="914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0">
                <a:solidFill>
                  <a:srgbClr val="9CA3B8"/>
                </a:solidFill>
                <a:latin typeface="微软雅黑" panose="020B0503020204020204" charset="-122"/>
              </a:rPr>
              <a:t>用自然语言规划交易、演示攻击</a:t>
            </a:r>
            <a:endParaRPr sz="15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83296" y="2514600"/>
            <a:ext cx="3520440" cy="292608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2514600"/>
            <a:ext cx="82296" cy="2926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83296" y="2834640"/>
            <a:ext cx="3520440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4000" b="0">
                <a:solidFill>
                  <a:srgbClr val="F59E0B"/>
                </a:solidFill>
                <a:latin typeface="微软雅黑" panose="020B0503020204020204" charset="-122"/>
              </a:rPr>
              <a:t>🛡️</a:t>
            </a:r>
            <a:endParaRPr sz="4000" b="0">
              <a:solidFill>
                <a:srgbClr val="F59E0B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083296" y="3749040"/>
            <a:ext cx="352044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后果透镜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66176" y="4389119"/>
            <a:ext cx="3154680" cy="914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0">
                <a:solidFill>
                  <a:srgbClr val="9CA3B8"/>
                </a:solidFill>
                <a:latin typeface="微软雅黑" panose="020B0503020204020204" charset="-122"/>
              </a:rPr>
              <a:t>签名前模拟并拦截危险操作</a:t>
            </a:r>
            <a:endParaRPr sz="15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微软雅黑" panose="020B0503020204020204" charset="-122"/>
              </a:rPr>
              <a:t>MonadLens · 看清网络，看清后果</a:t>
            </a:r>
            <a:endParaRPr sz="10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微软雅黑" panose="020B0503020204020204" charset="-122"/>
              </a:rPr>
              <a:t>3</a:t>
            </a:r>
            <a:endParaRPr sz="10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微软雅黑" panose="020B0503020204020204" charset="-122"/>
              </a:rPr>
              <a:t>整体架构</a:t>
            </a:r>
            <a:endParaRPr sz="1300" b="1">
              <a:solidFill>
                <a:srgbClr val="8B5CF6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 panose="020B0503020204020204" charset="-122"/>
              </a:rPr>
              <a:t>三栏一体化：数据 · 对话 · 防护</a:t>
            </a:r>
            <a:endParaRPr sz="3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520440" cy="28346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82296" cy="28346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31546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>
                <a:solidFill>
                  <a:srgbClr val="22D3EE"/>
                </a:solidFill>
                <a:latin typeface="微软雅黑" panose="020B0503020204020204" charset="-122"/>
              </a:rPr>
              <a:t>左栏</a:t>
            </a:r>
            <a:endParaRPr sz="1300" b="1">
              <a:solidFill>
                <a:srgbClr val="22D3EE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352044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实时看板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7240" y="3291840"/>
            <a:ext cx="3063240" cy="11887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9CA3B8"/>
                </a:solidFill>
                <a:latin typeface="微软雅黑" panose="020B0503020204020204" charset="-122"/>
              </a:rPr>
              <a:t>Monad 链上实时数据
TPS / 出块 / Gas / 活跃榜</a:t>
            </a:r>
            <a:endParaRPr sz="15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315968" y="1828800"/>
            <a:ext cx="3520440" cy="28346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5968" y="1828800"/>
            <a:ext cx="82296" cy="28346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2011680"/>
            <a:ext cx="31546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微软雅黑" panose="020B0503020204020204" charset="-122"/>
              </a:rPr>
              <a:t>中栏</a:t>
            </a:r>
            <a:endParaRPr sz="1300" b="1">
              <a:solidFill>
                <a:srgbClr val="8B5CF6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315968" y="2468880"/>
            <a:ext cx="352044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Agent 双脑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44568" y="3291840"/>
            <a:ext cx="3063240" cy="11887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9CA3B8"/>
                </a:solidFill>
                <a:latin typeface="微软雅黑" panose="020B0503020204020204" charset="-122"/>
              </a:rPr>
              <a:t>自然语言交互
规则引擎 + DeepSeek LLM</a:t>
            </a:r>
            <a:endParaRPr sz="15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083296" y="1828800"/>
            <a:ext cx="3520440" cy="28346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3296" y="1828800"/>
            <a:ext cx="82296" cy="28346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6176" y="2011680"/>
            <a:ext cx="31546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微软雅黑" panose="020B0503020204020204" charset="-122"/>
              </a:rPr>
              <a:t>右栏</a:t>
            </a:r>
            <a:endParaRPr sz="1300" b="1">
              <a:solidFill>
                <a:srgbClr val="F59E0B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83296" y="2468880"/>
            <a:ext cx="352044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微软雅黑" panose="020B0503020204020204" charset="-122"/>
              </a:rPr>
              <a:t>后果透镜</a:t>
            </a:r>
            <a:endParaRPr sz="2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311896" y="3291840"/>
            <a:ext cx="3063240" cy="11887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9CA3B8"/>
                </a:solidFill>
                <a:latin typeface="微软雅黑" panose="020B0503020204020204" charset="-122"/>
              </a:rPr>
              <a:t>签名前 Moss 模拟
预览资金流向与授权</a:t>
            </a:r>
            <a:endParaRPr sz="15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548640" y="4983480"/>
            <a:ext cx="11064240" cy="96012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074920"/>
            <a:ext cx="10607040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E9E9F2"/>
                </a:solidFill>
                <a:latin typeface="微软雅黑" panose="020B0503020204020204" charset="-122"/>
              </a:rPr>
              <a:t>数据流：钱包 / 链上  →  看板可视化  →  Agent 规划  →  Moss 模拟  →  透镜拦截 / 放行  →  签名广播  →  链上验证</a:t>
            </a:r>
            <a:endParaRPr sz="1500" b="0">
              <a:solidFill>
                <a:srgbClr val="E9E9F2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微软雅黑" panose="020B0503020204020204" charset="-122"/>
              </a:rPr>
              <a:t>MonadLens · 看清网络，看清后果</a:t>
            </a:r>
            <a:endParaRPr sz="10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微软雅黑" panose="020B0503020204020204" charset="-122"/>
              </a:rPr>
              <a:t>4</a:t>
            </a:r>
            <a:endParaRPr sz="10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微软雅黑" panose="020B0503020204020204" charset="-122"/>
              </a:rPr>
              <a:t>核心功能 ①</a:t>
            </a:r>
            <a:endParaRPr sz="1300" b="1">
              <a:solidFill>
                <a:srgbClr val="8B5CF6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 panose="020B0503020204020204" charset="-122"/>
              </a:rPr>
              <a:t>实时链上看板</a:t>
            </a:r>
            <a:endParaRPr sz="3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6400800" cy="416052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82296" cy="41605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911096"/>
            <a:ext cx="6016752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你能看到什么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86384" y="2441448"/>
            <a:ext cx="5943600" cy="33375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0">
                <a:solidFill>
                  <a:srgbClr val="E9E9F2"/>
                </a:solidFill>
                <a:latin typeface="微软雅黑" panose="020B0503020204020204" charset="-122"/>
              </a:rPr>
              <a:t>•  TPS 实时估算（约 40 tx/s）</a:t>
            </a:r>
            <a:endParaRPr sz="1600" b="0">
              <a:solidFill>
                <a:srgbClr val="E9E9F2"/>
              </a:solidFill>
              <a:latin typeface="微软雅黑" panose="020B0503020204020204" charset="-122"/>
            </a:endParaRP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E9E9F2"/>
                </a:solidFill>
                <a:latin typeface="微软雅黑" panose="020B0503020204020204" charset="-122"/>
              </a:rPr>
              <a:t>•  出块间隔约 0.3s，毫秒级刷新</a:t>
            </a:r>
            <a:endParaRPr sz="1600" b="0">
              <a:solidFill>
                <a:srgbClr val="E9E9F2"/>
              </a:solidFill>
              <a:latin typeface="微软雅黑" panose="020B0503020204020204" charset="-122"/>
            </a:endParaRP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E9E9F2"/>
                </a:solidFill>
                <a:latin typeface="微软雅黑" panose="020B0503020204020204" charset="-122"/>
              </a:rPr>
              <a:t>•  Gas 费用趋势图，提前感知拥堵</a:t>
            </a:r>
            <a:endParaRPr sz="1600" b="0">
              <a:solidFill>
                <a:srgbClr val="E9E9F2"/>
              </a:solidFill>
              <a:latin typeface="微软雅黑" panose="020B0503020204020204" charset="-122"/>
            </a:endParaRP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E9E9F2"/>
                </a:solidFill>
                <a:latin typeface="微软雅黑" panose="020B0503020204020204" charset="-122"/>
              </a:rPr>
              <a:t>•  活跃地址 / 合约榜 Top 5 实时更新</a:t>
            </a:r>
            <a:endParaRPr sz="1600" b="0">
              <a:solidFill>
                <a:srgbClr val="E9E9F2"/>
              </a:solidFill>
              <a:latin typeface="微软雅黑" panose="020B0503020204020204" charset="-122"/>
            </a:endParaRP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E9E9F2"/>
                </a:solidFill>
                <a:latin typeface="微软雅黑" panose="020B0503020204020204" charset="-122"/>
              </a:rPr>
              <a:t>•  WS 与 HTTP 竞速，慢节点也不卡死</a:t>
            </a:r>
            <a:endParaRPr sz="1600" b="0">
              <a:solidFill>
                <a:srgbClr val="E9E9F2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178040" y="1783080"/>
            <a:ext cx="4434840" cy="416052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78040" y="1783080"/>
            <a:ext cx="82296" cy="41605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0" y="1920240"/>
            <a:ext cx="39319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Gas 趋势（示意）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452360" y="2560320"/>
            <a:ext cx="4023360" cy="10972"/>
          </a:xfrm>
          <a:prstGeom prst="rect">
            <a:avLst/>
          </a:prstGeom>
          <a:solidFill>
            <a:srgbClr val="332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52360" y="3337560"/>
            <a:ext cx="4023360" cy="10972"/>
          </a:xfrm>
          <a:prstGeom prst="rect">
            <a:avLst/>
          </a:prstGeom>
          <a:solidFill>
            <a:srgbClr val="332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4114800"/>
            <a:ext cx="4023360" cy="10972"/>
          </a:xfrm>
          <a:prstGeom prst="rect">
            <a:avLst/>
          </a:prstGeom>
          <a:solidFill>
            <a:srgbClr val="332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4892040"/>
            <a:ext cx="4023360" cy="10972"/>
          </a:xfrm>
          <a:prstGeom prst="rect">
            <a:avLst/>
          </a:prstGeom>
          <a:solidFill>
            <a:srgbClr val="332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443215" y="5065776"/>
            <a:ext cx="109728" cy="109728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74736" y="4242816"/>
            <a:ext cx="109728" cy="109728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79" y="5120640"/>
            <a:ext cx="45720" cy="457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06256" y="4608576"/>
            <a:ext cx="109728" cy="109728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4297680"/>
            <a:ext cx="45720" cy="457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37776" y="3511296"/>
            <a:ext cx="109728" cy="109728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61120" y="4663440"/>
            <a:ext cx="45720" cy="457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69296" y="3968496"/>
            <a:ext cx="109728" cy="109728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92640" y="3566160"/>
            <a:ext cx="45720" cy="457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100815" y="3054096"/>
            <a:ext cx="109728" cy="109728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424160" y="4023360"/>
            <a:ext cx="45720" cy="457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5532120"/>
            <a:ext cx="39319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0">
                <a:solidFill>
                  <a:srgbClr val="9CA3B8"/>
                </a:solidFill>
                <a:latin typeface="微软雅黑" panose="020B0503020204020204" charset="-122"/>
              </a:rPr>
              <a:t>实时数据，一眼看懂网络状态</a:t>
            </a:r>
            <a:endParaRPr sz="12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微软雅黑" panose="020B0503020204020204" charset="-122"/>
              </a:rPr>
              <a:t>MonadLens · 看清网络，看清后果</a:t>
            </a:r>
            <a:endParaRPr sz="10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微软雅黑" panose="020B0503020204020204" charset="-122"/>
              </a:rPr>
              <a:t>5</a:t>
            </a:r>
            <a:endParaRPr sz="10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微软雅黑" panose="020B0503020204020204" charset="-122"/>
              </a:rPr>
              <a:t>核心功能 ②</a:t>
            </a:r>
            <a:endParaRPr sz="1300" b="1">
              <a:solidFill>
                <a:srgbClr val="8B5CF6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 panose="020B0503020204020204" charset="-122"/>
              </a:rPr>
              <a:t>Agent 双脑 AI 对话</a:t>
            </a:r>
            <a:endParaRPr sz="3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5394960" cy="233172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82296" cy="23317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911096"/>
            <a:ext cx="5010912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微软雅黑" panose="020B0503020204020204" charset="-122"/>
              </a:rPr>
              <a:t>🧠 规则引擎</a:t>
            </a:r>
            <a:endParaRPr sz="19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86384" y="2441448"/>
            <a:ext cx="4937760" cy="1508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9E9F2"/>
                </a:solidFill>
                <a:latin typeface="微软雅黑" panose="020B0503020204020204" charset="-122"/>
              </a:rPr>
              <a:t>•  快、确定，覆盖已知意图</a:t>
            </a:r>
            <a:endParaRPr sz="1500" b="0">
              <a:solidFill>
                <a:srgbClr val="E9E9F2"/>
              </a:solidFill>
              <a:latin typeface="微软雅黑" panose="020B0503020204020204" charset="-122"/>
            </a:endParaRP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9E9F2"/>
                </a:solidFill>
                <a:latin typeface="微软雅黑" panose="020B0503020204020204" charset="-122"/>
              </a:rPr>
              <a:t>•  交易规划、攻击演示一键触发</a:t>
            </a:r>
            <a:endParaRPr sz="1500" b="0">
              <a:solidFill>
                <a:srgbClr val="E9E9F2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394960" cy="233172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783080"/>
            <a:ext cx="82296" cy="2331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5664" y="1911096"/>
            <a:ext cx="5010912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微软雅黑" panose="020B0503020204020204" charset="-122"/>
              </a:rPr>
              <a:t>✨ DeepSeek LLM</a:t>
            </a:r>
            <a:endParaRPr sz="19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55664" y="2441448"/>
            <a:ext cx="4937760" cy="1508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9E9F2"/>
                </a:solidFill>
                <a:latin typeface="微软雅黑" panose="020B0503020204020204" charset="-122"/>
              </a:rPr>
              <a:t>•  自然、智能，理解自由提问</a:t>
            </a:r>
            <a:endParaRPr sz="1500" b="0">
              <a:solidFill>
                <a:srgbClr val="E9E9F2"/>
              </a:solidFill>
              <a:latin typeface="微软雅黑" panose="020B0503020204020204" charset="-122"/>
            </a:endParaRP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9E9F2"/>
                </a:solidFill>
                <a:latin typeface="微软雅黑" panose="020B0503020204020204" charset="-122"/>
              </a:rPr>
              <a:t>•  解释「为什么先模拟再签名」等</a:t>
            </a:r>
            <a:endParaRPr sz="1500" b="0">
              <a:solidFill>
                <a:srgbClr val="E9E9F2"/>
              </a:solidFill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48640" y="4343400"/>
            <a:ext cx="11064240" cy="160020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343400"/>
            <a:ext cx="82296" cy="1600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480560"/>
            <a:ext cx="10515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🔄 自动降级：LLM 不可用时切回规则引擎，永不掉线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22960" y="5029200"/>
            <a:ext cx="1051560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CA3B8"/>
                </a:solidFill>
                <a:latin typeface="微软雅黑" panose="020B0503020204020204" charset="-122"/>
              </a:rPr>
              <a:t>两条大脑互为备份，演示现场再也不怕「AI 抽风」导致功能失灵。</a:t>
            </a:r>
            <a:endParaRPr sz="15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微软雅黑" panose="020B0503020204020204" charset="-122"/>
              </a:rPr>
              <a:t>MonadLens · 看清网络，看清后果</a:t>
            </a:r>
            <a:endParaRPr sz="10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微软雅黑" panose="020B0503020204020204" charset="-122"/>
              </a:rPr>
              <a:t>6</a:t>
            </a:r>
            <a:endParaRPr sz="10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微软雅黑" panose="020B0503020204020204" charset="-122"/>
              </a:rPr>
              <a:t>核心功能 ③</a:t>
            </a:r>
            <a:endParaRPr sz="1300" b="1">
              <a:solidFill>
                <a:srgbClr val="8B5CF6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 panose="020B0503020204020204" charset="-122"/>
              </a:rPr>
              <a:t>后果透镜（签名前模拟）</a:t>
            </a:r>
            <a:endParaRPr sz="3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5486400" cy="416052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82296" cy="41605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911096"/>
            <a:ext cx="5102352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它模拟什么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86384" y="2441448"/>
            <a:ext cx="5029200" cy="33375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微软雅黑" panose="020B0503020204020204" charset="-122"/>
              </a:rPr>
              <a:t>•  资金流向：谁转出、谁收到、多少</a:t>
            </a:r>
            <a:endParaRPr sz="1600" b="0">
              <a:solidFill>
                <a:srgbClr val="E9E9F2"/>
              </a:solidFill>
              <a:latin typeface="微软雅黑" panose="020B0503020204020204" charset="-122"/>
            </a:endParaRP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微软雅黑" panose="020B0503020204020204" charset="-122"/>
              </a:rPr>
              <a:t>•  授权范围：交出的是定额还是无限</a:t>
            </a:r>
            <a:endParaRPr sz="1600" b="0">
              <a:solidFill>
                <a:srgbClr val="E9E9F2"/>
              </a:solidFill>
              <a:latin typeface="微软雅黑" panose="020B0503020204020204" charset="-122"/>
            </a:endParaRP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微软雅黑" panose="020B0503020204020204" charset="-122"/>
              </a:rPr>
              <a:t>•  余额变化：签名前后的净变动</a:t>
            </a:r>
            <a:endParaRPr sz="1600" b="0">
              <a:solidFill>
                <a:srgbClr val="E9E9F2"/>
              </a:solidFill>
              <a:latin typeface="微软雅黑" panose="020B0503020204020204" charset="-122"/>
            </a:endParaRP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微软雅黑" panose="020B0503020204020204" charset="-122"/>
              </a:rPr>
              <a:t>•  收款方对账：有没有偷偷换地址</a:t>
            </a:r>
            <a:endParaRPr sz="1600" b="0">
              <a:solidFill>
                <a:srgbClr val="E9E9F2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263640" y="1783080"/>
            <a:ext cx="5349240" cy="416052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783080"/>
            <a:ext cx="82296" cy="41605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1384" y="1911096"/>
            <a:ext cx="4965192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为什么重要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501384" y="2441448"/>
            <a:ext cx="4892040" cy="33375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微软雅黑" panose="020B0503020204020204" charset="-122"/>
              </a:rPr>
              <a:t>•  基于 Moss SDK 的 debug_traceCall 真模拟</a:t>
            </a:r>
            <a:endParaRPr sz="1600" b="0">
              <a:solidFill>
                <a:srgbClr val="E9E9F2"/>
              </a:solidFill>
              <a:latin typeface="微软雅黑" panose="020B0503020204020204" charset="-122"/>
            </a:endParaRP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微软雅黑" panose="020B0503020204020204" charset="-122"/>
              </a:rPr>
              <a:t>•  主网 0 MON 也能跑（内部预充 1000 MON）</a:t>
            </a:r>
            <a:endParaRPr sz="1600" b="0">
              <a:solidFill>
                <a:srgbClr val="E9E9F2"/>
              </a:solidFill>
              <a:latin typeface="微软雅黑" panose="020B0503020204020204" charset="-122"/>
            </a:endParaRP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微软雅黑" panose="020B0503020204020204" charset="-122"/>
              </a:rPr>
              <a:t>•  把「看不见的后果」变成「看得见的清单」</a:t>
            </a:r>
            <a:endParaRPr sz="1600" b="0">
              <a:solidFill>
                <a:srgbClr val="E9E9F2"/>
              </a:solidFill>
              <a:latin typeface="微软雅黑" panose="020B0503020204020204" charset="-122"/>
            </a:endParaRP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微软雅黑" panose="020B0503020204020204" charset="-122"/>
              </a:rPr>
              <a:t>•  先把风险看清楚，再决定要不要签</a:t>
            </a:r>
            <a:endParaRPr sz="1600" b="0">
              <a:solidFill>
                <a:srgbClr val="E9E9F2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微软雅黑" panose="020B0503020204020204" charset="-122"/>
              </a:rPr>
              <a:t>MonadLens · 看清网络，看清后果</a:t>
            </a:r>
            <a:endParaRPr sz="10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微软雅黑" panose="020B0503020204020204" charset="-122"/>
              </a:rPr>
              <a:t>7</a:t>
            </a:r>
            <a:endParaRPr sz="10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微软雅黑" panose="020B0503020204020204" charset="-122"/>
              </a:rPr>
              <a:t>核心功能 ④</a:t>
            </a:r>
            <a:endParaRPr sz="1300" b="1">
              <a:solidFill>
                <a:srgbClr val="8B5CF6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 panose="020B0503020204020204" charset="-122"/>
              </a:rPr>
              <a:t>5 类攻击护栏 — 签名前拦截</a:t>
            </a:r>
            <a:endParaRPr sz="3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084831" cy="16916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2084831" cy="7315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000" b="0">
                <a:solidFill>
                  <a:srgbClr val="F59E0B"/>
                </a:solidFill>
                <a:latin typeface="微软雅黑" panose="020B0503020204020204" charset="-122"/>
              </a:rPr>
              <a:t>🔄</a:t>
            </a:r>
            <a:endParaRPr sz="3000" b="0">
              <a:solidFill>
                <a:srgbClr val="F59E0B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2084831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收款方掉包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3108960"/>
            <a:ext cx="2084831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>
                <a:solidFill>
                  <a:srgbClr val="22D3EE"/>
                </a:solidFill>
                <a:latin typeface="微软雅黑" panose="020B0503020204020204" charset="-122"/>
              </a:rPr>
              <a:t>全部 blocked</a:t>
            </a:r>
            <a:endParaRPr sz="1200" b="1">
              <a:solidFill>
                <a:srgbClr val="22D3EE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788919" y="1828800"/>
            <a:ext cx="2084831" cy="16916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19" y="2011680"/>
            <a:ext cx="2084831" cy="7315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000" b="0">
                <a:solidFill>
                  <a:srgbClr val="F59E0B"/>
                </a:solidFill>
                <a:latin typeface="微软雅黑" panose="020B0503020204020204" charset="-122"/>
              </a:rPr>
              <a:t>🔓</a:t>
            </a:r>
            <a:endParaRPr sz="3000" b="0">
              <a:solidFill>
                <a:srgbClr val="F59E0B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788919" y="2697480"/>
            <a:ext cx="2084831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夹带授权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788919" y="3108960"/>
            <a:ext cx="2084831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>
                <a:solidFill>
                  <a:srgbClr val="22D3EE"/>
                </a:solidFill>
                <a:latin typeface="微软雅黑" panose="020B0503020204020204" charset="-122"/>
              </a:rPr>
              <a:t>全部 blocked</a:t>
            </a:r>
            <a:endParaRPr sz="1200" b="1">
              <a:solidFill>
                <a:srgbClr val="22D3EE"/>
              </a:solidFill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029198" y="1828800"/>
            <a:ext cx="2084831" cy="16916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198" y="2011680"/>
            <a:ext cx="2084831" cy="7315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000" b="0">
                <a:solidFill>
                  <a:srgbClr val="F59E0B"/>
                </a:solidFill>
                <a:latin typeface="微软雅黑" panose="020B0503020204020204" charset="-122"/>
              </a:rPr>
              <a:t>💥</a:t>
            </a:r>
            <a:endParaRPr sz="3000" b="0">
              <a:solidFill>
                <a:srgbClr val="F59E0B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198" y="2697480"/>
            <a:ext cx="2084831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金额膨胀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029198" y="3108960"/>
            <a:ext cx="2084831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>
                <a:solidFill>
                  <a:srgbClr val="22D3EE"/>
                </a:solidFill>
                <a:latin typeface="微软雅黑" panose="020B0503020204020204" charset="-122"/>
              </a:rPr>
              <a:t>全部 blocked</a:t>
            </a:r>
            <a:endParaRPr sz="1200" b="1">
              <a:solidFill>
                <a:srgbClr val="22D3EE"/>
              </a:solidFill>
              <a:latin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7269477" y="1828800"/>
            <a:ext cx="2084831" cy="16916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77" y="2011680"/>
            <a:ext cx="2084831" cy="7315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000" b="0">
                <a:solidFill>
                  <a:srgbClr val="F59E0B"/>
                </a:solidFill>
                <a:latin typeface="微软雅黑" panose="020B0503020204020204" charset="-122"/>
              </a:rPr>
              <a:t>♾️</a:t>
            </a:r>
            <a:endParaRPr sz="3000" b="0">
              <a:solidFill>
                <a:srgbClr val="F59E0B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269477" y="2697480"/>
            <a:ext cx="2084831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无限授权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269477" y="3108960"/>
            <a:ext cx="2084831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>
                <a:solidFill>
                  <a:srgbClr val="22D3EE"/>
                </a:solidFill>
                <a:latin typeface="微软雅黑" panose="020B0503020204020204" charset="-122"/>
              </a:rPr>
              <a:t>全部 blocked</a:t>
            </a:r>
            <a:endParaRPr sz="1200" b="1">
              <a:solidFill>
                <a:srgbClr val="22D3EE"/>
              </a:solidFill>
              <a:latin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9509756" y="1828800"/>
            <a:ext cx="2084831" cy="16916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56" y="2011680"/>
            <a:ext cx="2084831" cy="7315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000" b="0">
                <a:solidFill>
                  <a:srgbClr val="F59E0B"/>
                </a:solidFill>
                <a:latin typeface="微软雅黑" panose="020B0503020204020204" charset="-122"/>
              </a:rPr>
              <a:t>✍️</a:t>
            </a:r>
            <a:endParaRPr sz="3000" b="0">
              <a:solidFill>
                <a:srgbClr val="F59E0B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509756" y="2697480"/>
            <a:ext cx="2084831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篡改后签名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509756" y="3108960"/>
            <a:ext cx="2084831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>
                <a:solidFill>
                  <a:srgbClr val="22D3EE"/>
                </a:solidFill>
                <a:latin typeface="微软雅黑" panose="020B0503020204020204" charset="-122"/>
              </a:rPr>
              <a:t>全部 blocked</a:t>
            </a:r>
            <a:endParaRPr sz="1200" b="1">
              <a:solidFill>
                <a:srgbClr val="22D3EE"/>
              </a:solidFill>
              <a:latin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548640" y="3886200"/>
            <a:ext cx="11064240" cy="205740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 w="1587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886200"/>
            <a:ext cx="82296" cy="20574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 panose="020B0503020204020204" charset="-122"/>
              </a:rPr>
              <a:t>危险操作对比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22960" y="4572000"/>
            <a:ext cx="5029200" cy="11887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>
                <a:solidFill>
                  <a:srgbClr val="9CA3B8"/>
                </a:solidFill>
                <a:latin typeface="微软雅黑" panose="020B0503020204020204" charset="-122"/>
              </a:rPr>
              <a:t>普通钱包</a:t>
            </a:r>
            <a:endParaRPr sz="1500" b="1">
              <a:solidFill>
                <a:srgbClr val="9CA3B8"/>
              </a:solidFill>
              <a:latin typeface="微软雅黑" panose="020B0503020204020204" charset="-122"/>
            </a:endParaRP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E9E9F2"/>
                </a:solidFill>
                <a:latin typeface="微软雅黑" panose="020B0503020204020204" charset="-122"/>
              </a:rPr>
              <a:t>直接放行 → 资产悄悄流失</a:t>
            </a:r>
            <a:endParaRPr sz="1500" b="0">
              <a:solidFill>
                <a:srgbClr val="E9E9F2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217920" y="4572000"/>
            <a:ext cx="5029200" cy="11887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微软雅黑" panose="020B0503020204020204" charset="-122"/>
              </a:rPr>
              <a:t>MonadLens</a:t>
            </a:r>
            <a:endParaRPr sz="1500" b="1">
              <a:solidFill>
                <a:srgbClr val="22D3EE"/>
              </a:solidFill>
              <a:latin typeface="微软雅黑" panose="020B0503020204020204" charset="-122"/>
            </a:endParaRP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E9E9F2"/>
                </a:solidFill>
                <a:latin typeface="微软雅黑" panose="020B0503020204020204" charset="-122"/>
              </a:rPr>
              <a:t>标红告警 + 锁死签名按钮</a:t>
            </a:r>
            <a:endParaRPr sz="1500" b="0">
              <a:solidFill>
                <a:srgbClr val="E9E9F2"/>
              </a:solidFill>
              <a:latin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微软雅黑" panose="020B0503020204020204" charset="-122"/>
              </a:rPr>
              <a:t>MonadLens · 看清网络，看清后果</a:t>
            </a:r>
            <a:endParaRPr sz="10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微软雅黑" panose="020B0503020204020204" charset="-122"/>
              </a:rPr>
              <a:t>8</a:t>
            </a:r>
            <a:endParaRPr sz="10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微软雅黑" panose="020B0503020204020204" charset="-122"/>
              </a:rPr>
              <a:t>端到端演示</a:t>
            </a:r>
            <a:endParaRPr sz="1300" b="1">
              <a:solidFill>
                <a:srgbClr val="8B5CF6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 panose="020B0503020204020204" charset="-122"/>
              </a:rPr>
              <a:t>一条完整的可信交易闭环</a:t>
            </a:r>
            <a:endParaRPr sz="3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1755648" cy="128016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755648" cy="10972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① 连钱包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Chevron 6"/>
          <p:cNvSpPr/>
          <p:nvPr/>
        </p:nvSpPr>
        <p:spPr>
          <a:xfrm>
            <a:off x="2286000" y="2423160"/>
            <a:ext cx="146304" cy="457200"/>
          </a:xfrm>
          <a:prstGeom prst="chevron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14016" y="2011680"/>
            <a:ext cx="1755648" cy="128016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14016" y="2103120"/>
            <a:ext cx="1755648" cy="10972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② Agent 对话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" name="Chevron 9"/>
          <p:cNvSpPr/>
          <p:nvPr/>
        </p:nvSpPr>
        <p:spPr>
          <a:xfrm>
            <a:off x="4151376" y="2423160"/>
            <a:ext cx="146304" cy="457200"/>
          </a:xfrm>
          <a:prstGeom prst="chevron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79392" y="2011680"/>
            <a:ext cx="1755648" cy="128016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9392" y="2103120"/>
            <a:ext cx="1755648" cy="10972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③ Moss 模拟预览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Chevron 12"/>
          <p:cNvSpPr/>
          <p:nvPr/>
        </p:nvSpPr>
        <p:spPr>
          <a:xfrm>
            <a:off x="6016752" y="2423160"/>
            <a:ext cx="146304" cy="457200"/>
          </a:xfrm>
          <a:prstGeom prst="chevron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44768" y="2011680"/>
            <a:ext cx="1755648" cy="128016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2103120"/>
            <a:ext cx="1755648" cy="10972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④ 用户确认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Chevron 15"/>
          <p:cNvSpPr/>
          <p:nvPr/>
        </p:nvSpPr>
        <p:spPr>
          <a:xfrm>
            <a:off x="7882128" y="2423160"/>
            <a:ext cx="146304" cy="457200"/>
          </a:xfrm>
          <a:prstGeom prst="chevron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10144" y="2011680"/>
            <a:ext cx="1755648" cy="128016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103120"/>
            <a:ext cx="1755648" cy="10972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⑤ 签名广播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9" name="Chevron 18"/>
          <p:cNvSpPr/>
          <p:nvPr/>
        </p:nvSpPr>
        <p:spPr>
          <a:xfrm>
            <a:off x="9747504" y="2423160"/>
            <a:ext cx="146304" cy="457200"/>
          </a:xfrm>
          <a:prstGeom prst="chevron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875520" y="2011680"/>
            <a:ext cx="1755648" cy="128016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0" y="2103120"/>
            <a:ext cx="1755648" cy="10972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⑥ 链上验证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548640" y="3749039"/>
            <a:ext cx="11064240" cy="201168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749039"/>
            <a:ext cx="82296" cy="2011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800" b="1">
                <a:solidFill>
                  <a:srgbClr val="22D3EE"/>
                </a:solidFill>
                <a:latin typeface="微软雅黑" panose="020B0503020204020204" charset="-122"/>
              </a:rPr>
              <a:t>✅ 已实测：在 Monad 测试网真实签名并上链成功</a:t>
            </a:r>
            <a:endParaRPr sz="1800" b="1">
              <a:solidFill>
                <a:srgbClr val="22D3EE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22960" y="4572000"/>
            <a:ext cx="10515600" cy="10058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CA3B8"/>
                </a:solidFill>
                <a:latin typeface="微软雅黑" panose="020B0503020204020204" charset="-122"/>
              </a:rPr>
              <a:t>交易哈希已在 MonadScan 验证通过 —— 模拟、签名、广播、验证全链路跑通，不是 Demo 截图，是真上链。</a:t>
            </a:r>
            <a:endParaRPr sz="15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微软雅黑" panose="020B0503020204020204" charset="-122"/>
              </a:rPr>
              <a:t>MonadLens · 看清网络，看清后果</a:t>
            </a:r>
            <a:endParaRPr sz="10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微软雅黑" panose="020B0503020204020204" charset="-122"/>
              </a:rPr>
              <a:t>9</a:t>
            </a:r>
            <a:endParaRPr sz="10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微软雅黑" panose="020B0503020204020204" charset="-122"/>
              </a:rPr>
              <a:t>技术栈</a:t>
            </a:r>
            <a:endParaRPr sz="1300" b="1">
              <a:solidFill>
                <a:srgbClr val="8B5CF6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 panose="020B0503020204020204" charset="-122"/>
              </a:rPr>
              <a:t>现代、稳健、可演示</a:t>
            </a:r>
            <a:endParaRPr sz="3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520440" cy="32918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82296" cy="32918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956816"/>
            <a:ext cx="3136392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微软雅黑" panose="020B0503020204020204" charset="-122"/>
              </a:rPr>
              <a:t>前端 / 框架</a:t>
            </a:r>
            <a:endParaRPr sz="19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86384" y="2487168"/>
            <a:ext cx="3063240" cy="2468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微软雅黑" panose="020B0503020204020204" charset="-122"/>
              </a:rPr>
              <a:t>•  Next.js 16</a:t>
            </a:r>
            <a:endParaRPr sz="1700" b="0">
              <a:solidFill>
                <a:srgbClr val="E9E9F2"/>
              </a:solidFill>
              <a:latin typeface="微软雅黑" panose="020B0503020204020204" charset="-122"/>
            </a:endParaRP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微软雅黑" panose="020B0503020204020204" charset="-122"/>
              </a:rPr>
              <a:t>•  React 19</a:t>
            </a:r>
            <a:endParaRPr sz="1700" b="0">
              <a:solidFill>
                <a:srgbClr val="E9E9F2"/>
              </a:solidFill>
              <a:latin typeface="微软雅黑" panose="020B0503020204020204" charset="-122"/>
            </a:endParaRP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微软雅黑" panose="020B0503020204020204" charset="-122"/>
              </a:rPr>
              <a:t>•  Tailwind v4</a:t>
            </a:r>
            <a:endParaRPr sz="1700" b="0">
              <a:solidFill>
                <a:srgbClr val="E9E9F2"/>
              </a:solidFill>
              <a:latin typeface="微软雅黑" panose="020B0503020204020204" charset="-122"/>
            </a:endParaRP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微软雅黑" panose="020B0503020204020204" charset="-122"/>
              </a:rPr>
              <a:t>•  TypeScript</a:t>
            </a:r>
            <a:endParaRPr sz="1700" b="0">
              <a:solidFill>
                <a:srgbClr val="E9E9F2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315968" y="1828800"/>
            <a:ext cx="3520440" cy="32918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828800"/>
            <a:ext cx="82296" cy="32918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956816"/>
            <a:ext cx="3136392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微软雅黑" panose="020B0503020204020204" charset="-122"/>
              </a:rPr>
              <a:t>链上 / 钱包</a:t>
            </a:r>
            <a:endParaRPr sz="19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53712" y="2487168"/>
            <a:ext cx="3063240" cy="2468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微软雅黑" panose="020B0503020204020204" charset="-122"/>
              </a:rPr>
              <a:t>•  wagmi v3</a:t>
            </a:r>
            <a:endParaRPr sz="1700" b="0">
              <a:solidFill>
                <a:srgbClr val="E9E9F2"/>
              </a:solidFill>
              <a:latin typeface="微软雅黑" panose="020B0503020204020204" charset="-122"/>
            </a:endParaRP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微软雅黑" panose="020B0503020204020204" charset="-122"/>
              </a:rPr>
              <a:t>•  viem v2</a:t>
            </a:r>
            <a:endParaRPr sz="1700" b="0">
              <a:solidFill>
                <a:srgbClr val="E9E9F2"/>
              </a:solidFill>
              <a:latin typeface="微软雅黑" panose="020B0503020204020204" charset="-122"/>
            </a:endParaRP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微软雅黑" panose="020B0503020204020204" charset="-122"/>
              </a:rPr>
              <a:t>•  zustand</a:t>
            </a:r>
            <a:endParaRPr sz="1700" b="0">
              <a:solidFill>
                <a:srgbClr val="E9E9F2"/>
              </a:solidFill>
              <a:latin typeface="微软雅黑" panose="020B0503020204020204" charset="-122"/>
            </a:endParaRP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微软雅黑" panose="020B0503020204020204" charset="-122"/>
              </a:rPr>
              <a:t>•  Moss SDK</a:t>
            </a:r>
            <a:endParaRPr sz="1700" b="0">
              <a:solidFill>
                <a:srgbClr val="E9E9F2"/>
              </a:solidFill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083296" y="1828800"/>
            <a:ext cx="3520440" cy="32918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83296" y="1828800"/>
            <a:ext cx="82296" cy="32918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956816"/>
            <a:ext cx="3136392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微软雅黑" panose="020B0503020204020204" charset="-122"/>
              </a:rPr>
              <a:t>AI / 可视化</a:t>
            </a:r>
            <a:endParaRPr sz="19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321040" y="2487168"/>
            <a:ext cx="3063240" cy="2468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微软雅黑" panose="020B0503020204020204" charset="-122"/>
              </a:rPr>
              <a:t>•  DeepSeek LLM</a:t>
            </a:r>
            <a:endParaRPr sz="1700" b="0">
              <a:solidFill>
                <a:srgbClr val="E9E9F2"/>
              </a:solidFill>
              <a:latin typeface="微软雅黑" panose="020B0503020204020204" charset="-122"/>
            </a:endParaRP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微软雅黑" panose="020B0503020204020204" charset="-122"/>
              </a:rPr>
              <a:t>•  规则引擎</a:t>
            </a:r>
            <a:endParaRPr sz="1700" b="0">
              <a:solidFill>
                <a:srgbClr val="E9E9F2"/>
              </a:solidFill>
              <a:latin typeface="微软雅黑" panose="020B0503020204020204" charset="-122"/>
            </a:endParaRP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微软雅黑" panose="020B0503020204020204" charset="-122"/>
              </a:rPr>
              <a:t>•  recharts</a:t>
            </a:r>
            <a:endParaRPr sz="1700" b="0">
              <a:solidFill>
                <a:srgbClr val="E9E9F2"/>
              </a:solidFill>
              <a:latin typeface="微软雅黑" panose="020B0503020204020204" charset="-122"/>
            </a:endParaRP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微软雅黑" panose="020B0503020204020204" charset="-122"/>
              </a:rPr>
              <a:t>•  debug_traceCall</a:t>
            </a:r>
            <a:endParaRPr sz="1700" b="0">
              <a:solidFill>
                <a:srgbClr val="E9E9F2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微软雅黑" panose="020B0503020204020204" charset="-122"/>
              </a:rPr>
              <a:t>MonadLens · 看清网络，看清后果</a:t>
            </a:r>
            <a:endParaRPr sz="10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微软雅黑" panose="020B0503020204020204" charset="-122"/>
              </a:rPr>
              <a:t>10</a:t>
            </a:r>
            <a:endParaRPr sz="10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微软雅黑" panose="020B0503020204020204" charset="-122"/>
              </a:rPr>
              <a:t>如何体验</a:t>
            </a:r>
            <a:endParaRPr sz="1300" b="1">
              <a:solidFill>
                <a:srgbClr val="8B5CF6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 panose="020B0503020204020204" charset="-122"/>
              </a:rPr>
              <a:t>3 步跑通演示（测试网 · 免费）</a:t>
            </a:r>
            <a:endParaRPr sz="3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64240" cy="132588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2121408"/>
            <a:ext cx="731520" cy="7315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21408"/>
            <a:ext cx="731520" cy="7315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3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783080" y="1993392"/>
            <a:ext cx="950976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微软雅黑" panose="020B0503020204020204" charset="-122"/>
              </a:rPr>
              <a:t>连钱包 + 一键加网</a:t>
            </a:r>
            <a:endParaRPr sz="19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783080" y="2487168"/>
            <a:ext cx="950976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0">
                <a:solidFill>
                  <a:srgbClr val="9CA3B8"/>
                </a:solidFill>
                <a:latin typeface="微软雅黑" panose="020B0503020204020204" charset="-122"/>
              </a:rPr>
              <a:t>连接 MetaMask/OKX，点「添加网络」自动灌入 Monad 测试网。</a:t>
            </a:r>
            <a:endParaRPr sz="14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48640" y="3337560"/>
            <a:ext cx="11064240" cy="132588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3630168"/>
            <a:ext cx="731520" cy="73152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630168"/>
            <a:ext cx="731520" cy="7315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3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783080" y="3502152"/>
            <a:ext cx="950976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微软雅黑" panose="020B0503020204020204" charset="-122"/>
              </a:rPr>
              <a:t>领免费测试币</a:t>
            </a:r>
            <a:endParaRPr sz="19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783080" y="3995928"/>
            <a:ext cx="950976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0">
                <a:solidFill>
                  <a:srgbClr val="9CA3B8"/>
                </a:solidFill>
                <a:latin typeface="微软雅黑" panose="020B0503020204020204" charset="-122"/>
              </a:rPr>
              <a:t>打开 faucet.monad.xyz，领取免费测试 MON（无真实价值）。</a:t>
            </a:r>
            <a:endParaRPr sz="14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48640" y="4846320"/>
            <a:ext cx="11064240" cy="132588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7240" y="5138928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38928"/>
            <a:ext cx="731520" cy="7315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3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783080" y="5010912"/>
            <a:ext cx="950976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微软雅黑" panose="020B0503020204020204" charset="-122"/>
              </a:rPr>
              <a:t>对话 → 模拟 → 签名</a:t>
            </a:r>
            <a:endParaRPr sz="19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783080" y="5504688"/>
            <a:ext cx="950976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0">
                <a:solidFill>
                  <a:srgbClr val="9CA3B8"/>
                </a:solidFill>
                <a:latin typeface="微软雅黑" panose="020B0503020204020204" charset="-122"/>
              </a:rPr>
              <a:t>点建议按钮触发模拟，看透镜预览，签名后到 MonadScan 验证。</a:t>
            </a:r>
            <a:endParaRPr sz="14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548640" y="5806440"/>
            <a:ext cx="11064240" cy="50292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300" b="0">
                <a:solidFill>
                  <a:srgbClr val="22D3EE"/>
                </a:solidFill>
                <a:latin typeface="微软雅黑" panose="020B0503020204020204" charset="-122"/>
              </a:rPr>
              <a:t>提示：测试网代币免费、无真实价值，可放心演示每一步。</a:t>
            </a:r>
            <a:endParaRPr sz="1300" b="0">
              <a:solidFill>
                <a:srgbClr val="22D3EE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微软雅黑" panose="020B0503020204020204" charset="-122"/>
              </a:rPr>
              <a:t>MonadLens · 看清网络，看清后果</a:t>
            </a:r>
            <a:endParaRPr sz="10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微软雅黑" panose="020B0503020204020204" charset="-122"/>
              </a:rPr>
              <a:t>11</a:t>
            </a:r>
            <a:endParaRPr sz="10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82880"/>
          </a:xfrm>
          <a:prstGeom prst="roundRect">
            <a:avLst>
              <a:gd name="adj" fmla="val 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微软雅黑" panose="020B0503020204020204" charset="-122"/>
              </a:rPr>
              <a:t>看清后果，才能放心签名</a:t>
            </a:r>
            <a:endParaRPr sz="4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3474720"/>
            <a:ext cx="10515600" cy="3429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2000" b="0">
                <a:solidFill>
                  <a:srgbClr val="8B5CF6"/>
                </a:solidFill>
                <a:latin typeface="微软雅黑" panose="020B0503020204020204" charset="-122"/>
              </a:rPr>
              <a:t>MonadLens </a:t>
            </a:r>
            <a:r>
              <a:rPr lang="zh-CN" altLang="en-US" sz="2000" b="0">
                <a:solidFill>
                  <a:srgbClr val="8B5CF6"/>
                </a:solidFill>
                <a:latin typeface="微软雅黑" panose="020B0503020204020204" charset="-122"/>
              </a:rPr>
              <a:t>· 透视链</a:t>
            </a:r>
            <a:r>
              <a:rPr sz="2000" b="0">
                <a:solidFill>
                  <a:srgbClr val="8B5CF6"/>
                </a:solidFill>
                <a:latin typeface="微软雅黑" panose="020B0503020204020204" charset="-122"/>
              </a:rPr>
              <a:t>— 让你的每一笔签名都心里有数</a:t>
            </a:r>
            <a:endParaRPr sz="2000" b="0">
              <a:solidFill>
                <a:srgbClr val="8B5CF6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500" b="0">
                <a:solidFill>
                  <a:srgbClr val="9CA3B8"/>
                </a:solidFill>
                <a:latin typeface="微软雅黑" panose="020B0503020204020204" charset="-122"/>
              </a:rPr>
              <a:t>致谢  LXDAO × Monad  黑客松</a:t>
            </a:r>
            <a:endParaRPr sz="1500" b="0">
              <a:solidFill>
                <a:srgbClr val="9CA3B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2019</Words>
  <Application>WPS 演示</Application>
  <PresentationFormat>On-screen Show (4:3)</PresentationFormat>
  <Paragraphs>285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WPS_1568168966</cp:lastModifiedBy>
  <cp:revision>4</cp:revision>
  <dcterms:created xsi:type="dcterms:W3CDTF">2013-01-27T09:14:00Z</dcterms:created>
  <dcterms:modified xsi:type="dcterms:W3CDTF">2026-08-08T15:21:15Z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41161911598F4AD4AAA930AD5DC89087_12</vt:lpwstr>
  </property>
  <property fmtid="{D5CDD505-2E9C-101B-9397-08002B2CF9AE}" pid="3" name="KSOProductBuildVer">
    <vt:lpwstr>2052-12.1.0.28043</vt:lpwstr>
  </property>
</Properties>
</file>