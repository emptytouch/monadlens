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8288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Microsoft YaHei"/>
              </a:rPr>
              <a:t>MonadLens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Microsoft YaHei"/>
              </a:rPr>
              <a:t>透视链 · 看清网络，看清后果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0">
                <a:solidFill>
                  <a:srgbClr val="9CA3B8"/>
                </a:solidFill>
                <a:latin typeface="Microsoft YaHei"/>
              </a:rPr>
              <a:t>在签名之前，先看清一笔交易到底会做什么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5074920"/>
            <a:ext cx="5943600" cy="6400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5138928"/>
            <a:ext cx="5943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0">
                <a:solidFill>
                  <a:srgbClr val="E9E9F2"/>
                </a:solidFill>
                <a:latin typeface="Microsoft YaHei"/>
              </a:rPr>
              <a:t>Monad Metropolis 黑客松 · Track 04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链上交易的「盲签」之痛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675120" cy="42062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" cy="4206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629107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链上交易的真实风险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41448"/>
            <a:ext cx="621792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授权无感知：点一下「授权」，可能交出无限额度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收款方被掉包：看似转给朋友，实际转给黑客地址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金额被膨胀：1 MON 变 100 MON，签名时已晚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夹带授权：一笔操作里偷偷塞进授权调用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签名即失控：交易上链不可逆，错了追不回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83080"/>
            <a:ext cx="4160520" cy="42062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783080"/>
            <a:ext cx="82296" cy="4206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Microsoft YaHei"/>
              </a:rPr>
              <a:t>真正的后果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743200"/>
            <a:ext cx="3657600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0" b="1">
                <a:solidFill>
                  <a:srgbClr val="EF4444"/>
                </a:solidFill>
                <a:latin typeface="Microsoft YaHe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297680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0">
                <a:solidFill>
                  <a:srgbClr val="9CA3B8"/>
                </a:solidFill>
                <a:latin typeface="Microsoft YaHei"/>
              </a:rPr>
              <a:t>后悔药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937760"/>
            <a:ext cx="3657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用户往往在签名之后，才发现资产已经被转走。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MonadLens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E9E9F2"/>
                </a:solidFill>
                <a:latin typeface="Microsoft YaHei"/>
              </a:rPr>
              <a:t>一个把「签名前后果」可视化、可对话、可拦截的链上安全助手。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82296" cy="2926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5204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4000" b="0">
                <a:solidFill>
                  <a:srgbClr val="22D3EE"/>
                </a:solidFill>
                <a:latin typeface="Microsoft YaHe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3520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实时看板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31546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把链上数据变成看得懂的画面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51460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82296" cy="2926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834640"/>
            <a:ext cx="35204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4000" b="0">
                <a:solidFill>
                  <a:srgbClr val="8B5CF6"/>
                </a:solidFill>
                <a:latin typeface="Microsoft YaHe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749040"/>
            <a:ext cx="3520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AI 对话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4389119"/>
            <a:ext cx="31546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用自然语言规划交易、演示攻击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51460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514600"/>
            <a:ext cx="82296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834640"/>
            <a:ext cx="35204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4000" b="0">
                <a:solidFill>
                  <a:srgbClr val="F59E0B"/>
                </a:solidFill>
                <a:latin typeface="Microsoft YaHei"/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3749040"/>
            <a:ext cx="3520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后果透镜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4389119"/>
            <a:ext cx="31546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签名前模拟并拦截危险操作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三栏一体化：数据 · 对话 · 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2834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82296" cy="2834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54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</a:rPr>
              <a:t>左栏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5204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实时看板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Monad 链上实时数据
TPS / 出块 / Gas / 活跃榜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20440" cy="2834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828800"/>
            <a:ext cx="82296" cy="2834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11680"/>
            <a:ext cx="3154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中栏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468880"/>
            <a:ext cx="35204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Agent 双脑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291840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自然语言交互
规则引擎 + LLM（OpenAI 兼容）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520440" cy="2834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82296" cy="2834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011680"/>
            <a:ext cx="3154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Microsoft YaHei"/>
              </a:rPr>
              <a:t>右栏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68880"/>
            <a:ext cx="35204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后果透镜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291840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签名前 Moss 模拟
预览资金流向与授权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数据流：钱包 / 链上  →  看板可视化  →  Agent 规划  →  Moss 模拟  →  透镜拦截 / 放行  →  签名广播  →  链上验证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核心功能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实时链上看板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00800" cy="41605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" cy="4160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60167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你能看到什么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41448"/>
            <a:ext cx="5943600" cy="3337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TPS 实时估算（约 40 tx/s）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出块间隔约 0.3s，毫秒级刷新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Gas 费用趋势图，提前感知拥堵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活跃地址 / 合约榜 Top 5 实时更新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WS 与 HTTP 竞速，慢节点也不卡死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783080"/>
            <a:ext cx="4434840" cy="41605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1783080"/>
            <a:ext cx="82296" cy="4160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920240"/>
            <a:ext cx="3931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Gas 趋势（示意）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560320"/>
            <a:ext cx="4023360" cy="10972"/>
          </a:xfrm>
          <a:prstGeom prst="rect">
            <a:avLst/>
          </a:prstGeom>
          <a:solidFill>
            <a:srgbClr val="33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3337560"/>
            <a:ext cx="4023360" cy="10972"/>
          </a:xfrm>
          <a:prstGeom prst="rect">
            <a:avLst/>
          </a:prstGeom>
          <a:solidFill>
            <a:srgbClr val="33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4114800"/>
            <a:ext cx="4023360" cy="10972"/>
          </a:xfrm>
          <a:prstGeom prst="rect">
            <a:avLst/>
          </a:prstGeom>
          <a:solidFill>
            <a:srgbClr val="33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4892040"/>
            <a:ext cx="4023360" cy="10972"/>
          </a:xfrm>
          <a:prstGeom prst="rect">
            <a:avLst/>
          </a:prstGeom>
          <a:solidFill>
            <a:srgbClr val="33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43215" y="506577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4736" y="424281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2064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06256" y="460857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29768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37776" y="351129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466344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69296" y="396849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356616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00815" y="305409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24160" y="402336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532120"/>
            <a:ext cx="3931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9CA3B8"/>
                </a:solidFill>
                <a:latin typeface="Microsoft YaHei"/>
              </a:rPr>
              <a:t>实时数据，一眼看懂网络状态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核心功能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Agent 双脑 AI 对话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501091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🧠 规则引擎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41448"/>
            <a:ext cx="493776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•  快、确定，覆盖已知意图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•  交易规划、攻击演示一键触发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82296" cy="2331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911096"/>
            <a:ext cx="501091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✨ LLM（OpenAI 兼容）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441448"/>
            <a:ext cx="493776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•  自然、智能，理解自由提问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•  当前接入智谱 glm-4-flash，可一键换模型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82296" cy="1600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🔄 自动降级：LLM 不可用时切回规则引擎，永不掉线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两条大脑互为备份，演示现场再也不怕「AI 抽风」导致功能失灵。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核心功能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后果透镜（签名前模拟）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" cy="4160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51023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它模拟什么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41448"/>
            <a:ext cx="5029200" cy="3337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资金流向：谁转出、谁收到、多少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授权范围：交出的是定额还是无限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余额变化：签名前后的净变动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收款方对账：有没有偷偷换地址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82296" cy="4160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1911096"/>
            <a:ext cx="49651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为什么重要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441448"/>
            <a:ext cx="4892040" cy="3337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基于 Moss SDK 的 debug_traceCall 真模拟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主网 0 MON 也能跑（内部预充 1000 MON）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把「看不见的后果」变成「看得见的清单」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先把风险看清楚，再决定要不要签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核心功能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7 类攻击护栏 — 签名前拦截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481328" cy="1874519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1481328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700" b="0">
                <a:solidFill>
                  <a:srgbClr val="F59E0B"/>
                </a:solidFill>
                <a:latin typeface="Microsoft YaHei"/>
              </a:rPr>
              <a:t>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48132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金额膨胀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48132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Moss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9696" y="1828800"/>
            <a:ext cx="1481328" cy="1874519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9696" y="1993392"/>
            <a:ext cx="1481328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700" b="0">
                <a:solidFill>
                  <a:srgbClr val="F59E0B"/>
                </a:solidFill>
                <a:latin typeface="Microsoft YaHei"/>
              </a:rPr>
              <a:t>♾️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2724912"/>
            <a:ext cx="148132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无限授权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3246120"/>
            <a:ext cx="148132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Moss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0752" y="1828800"/>
            <a:ext cx="1481328" cy="1874519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1993392"/>
            <a:ext cx="1481328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700" b="0">
                <a:solidFill>
                  <a:srgbClr val="F59E0B"/>
                </a:solidFill>
                <a:latin typeface="Microsoft YaHei"/>
              </a:rPr>
              <a:t>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24912"/>
            <a:ext cx="148132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夹带授权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246120"/>
            <a:ext cx="148132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Moss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21808" y="1828800"/>
            <a:ext cx="1481328" cy="1874519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1993392"/>
            <a:ext cx="1481328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700" b="0">
                <a:solidFill>
                  <a:srgbClr val="F59E0B"/>
                </a:solidFill>
                <a:latin typeface="Microsoft YaHei"/>
              </a:rPr>
              <a:t>✍️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724912"/>
            <a:ext cx="148132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封印后篡改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246120"/>
            <a:ext cx="148132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Moss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2864" y="1828800"/>
            <a:ext cx="1481328" cy="1874519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2864" y="1993392"/>
            <a:ext cx="1481328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700" b="0">
                <a:solidFill>
                  <a:srgbClr val="F59E0B"/>
                </a:solidFill>
                <a:latin typeface="Microsoft YaHei"/>
              </a:rP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4" y="2724912"/>
            <a:ext cx="148132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收款方掉包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3246120"/>
            <a:ext cx="148132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8B5CF6"/>
                </a:solidFill>
                <a:latin typeface="Microsoft YaHei"/>
              </a:rPr>
              <a:t>自研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828800"/>
            <a:ext cx="1481328" cy="1874519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993392"/>
            <a:ext cx="1481328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700" b="0">
                <a:solidFill>
                  <a:srgbClr val="F59E0B"/>
                </a:solidFill>
                <a:latin typeface="Microsoft YaHei"/>
              </a:rPr>
              <a:t>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24912"/>
            <a:ext cx="148132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零宽字符掉包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246120"/>
            <a:ext cx="148132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8B5CF6"/>
                </a:solidFill>
                <a:latin typeface="Microsoft YaHei"/>
              </a:rPr>
              <a:t>自研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94976" y="1828800"/>
            <a:ext cx="1481328" cy="1874519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1993392"/>
            <a:ext cx="1481328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700" b="0">
                <a:solidFill>
                  <a:srgbClr val="F59E0B"/>
                </a:solidFill>
                <a:latin typeface="Microsoft YaHei"/>
              </a:rPr>
              <a:t>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4976" y="2724912"/>
            <a:ext cx="148132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permit 重放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4976" y="3246120"/>
            <a:ext cx="148132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8B5CF6"/>
                </a:solidFill>
                <a:latin typeface="Microsoft YaHei"/>
              </a:rPr>
              <a:t>自研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77639"/>
            <a:ext cx="11064240" cy="205740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977639"/>
            <a:ext cx="82296" cy="2057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Moss 原生抓不到的 3 类盲区 —— MonadLens 在应用层补上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63440"/>
            <a:ext cx="1060704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9E9F2"/>
                </a:solidFill>
                <a:latin typeface="Microsoft YaHei"/>
              </a:rPr>
              <a:t>•  收款方对账：金额一分不差，收款地址却被换 —— Moss 不查「转给谁」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9E9F2"/>
                </a:solidFill>
                <a:latin typeface="Microsoft YaHei"/>
              </a:rPr>
              <a:t>•  地址外观：零宽 / 形似字符掉包，肉眼与 checksum 都认不出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9E9F2"/>
                </a:solidFill>
                <a:latin typeface="Microsoft YaHei"/>
              </a:rPr>
              <a:t>•  签名溯源：permit 重放 —— Moss 只见 calldata，不见离链签名的 provenance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9CA3B8"/>
                </a:solidFill>
                <a:latin typeface="Microsoft YaHei"/>
              </a:rPr>
              <a:t>另：兑换请求会被当场拆穿为「假 DEX 骗签名」骗局（permit 重放演示）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不是 Moss 套壳 —— 在 Moss 之上补了三层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82296" cy="38404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11680"/>
            <a:ext cx="3063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① 收款方对账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78608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Microsoft YaHei"/>
              </a:rPr>
              <a:t>UNDECLARED_RECIPIENT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08960"/>
            <a:ext cx="3044952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9F2"/>
                </a:solidFill>
                <a:latin typeface="Microsoft YaHei"/>
              </a:rPr>
              <a:t>Moss 只约束「转出多少」，不约束「转给谁」。MonadLens 用界面声明的收款方做对账，未声明地址直接标红。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20440" cy="38404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828800"/>
            <a:ext cx="82296" cy="3840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11680"/>
            <a:ext cx="3063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② 地址外观检测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78608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Microsoft YaHei"/>
              </a:rPr>
              <a:t>MISLEADING_ADDRESS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108960"/>
            <a:ext cx="3044952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9F2"/>
                </a:solidFill>
                <a:latin typeface="Microsoft YaHei"/>
              </a:rPr>
              <a:t>零宽 / 形似字符掉包，calldata 全合法、肉眼无法分辨。MonadLens 单独检测非 ASCII 与形近字符。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520440" cy="38404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82296" cy="3840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063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③ 签名溯源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78608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PERMIT_REPLAY_RISK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44952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9E9F2"/>
                </a:solidFill>
                <a:latin typeface="Microsoft YaHei"/>
              </a:rPr>
              <a:t>EIP-2612 permit 攻击的危险在离链签名；Moss 只见 permit + transferFrom calldata，MonadLens 标出其 provenance 盲区。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9CA3B8"/>
                </a:solidFill>
                <a:latin typeface="Microsoft YaHei"/>
              </a:rPr>
              <a:t>这三类是 Moss 原生看不到、只有应用层才知道的信息 —— 评委视角的核心创新点。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端到端演示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一条完整的可信交易闭环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① 连钱包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14016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4016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② Agent 对话</a:t>
            </a:r>
          </a:p>
        </p:txBody>
      </p:sp>
      <p:sp>
        <p:nvSpPr>
          <p:cNvPr id="10" name="Chevron 9"/>
          <p:cNvSpPr/>
          <p:nvPr/>
        </p:nvSpPr>
        <p:spPr>
          <a:xfrm>
            <a:off x="4151376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9392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③ Moss 模拟预览</a:t>
            </a:r>
          </a:p>
        </p:txBody>
      </p:sp>
      <p:sp>
        <p:nvSpPr>
          <p:cNvPr id="13" name="Chevron 12"/>
          <p:cNvSpPr/>
          <p:nvPr/>
        </p:nvSpPr>
        <p:spPr>
          <a:xfrm>
            <a:off x="6016752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④ 用户确认</a:t>
            </a:r>
          </a:p>
        </p:txBody>
      </p:sp>
      <p:sp>
        <p:nvSpPr>
          <p:cNvPr id="16" name="Chevron 15"/>
          <p:cNvSpPr/>
          <p:nvPr/>
        </p:nvSpPr>
        <p:spPr>
          <a:xfrm>
            <a:off x="7882128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⑤ 签名广播</a:t>
            </a:r>
          </a:p>
        </p:txBody>
      </p:sp>
      <p:sp>
        <p:nvSpPr>
          <p:cNvPr id="19" name="Chevron 18"/>
          <p:cNvSpPr/>
          <p:nvPr/>
        </p:nvSpPr>
        <p:spPr>
          <a:xfrm>
            <a:off x="9747504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0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⑥ 链上验证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11064240" cy="20116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49039"/>
            <a:ext cx="82296" cy="2011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Microsoft YaHei"/>
              </a:rPr>
              <a:t>✅ 已实测：在 Monad 测试网真实签名并上链成功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交易哈希已在 MonadScan 验证通过 —— 模拟、签名、广播、验证全链路跑通，不是 Demo 截图，是真上链。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现代、稳健、可演示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82296" cy="3291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56816"/>
            <a:ext cx="31363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前端 /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87168"/>
            <a:ext cx="3063240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Next.js 16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React 19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Tailwind v4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828800"/>
            <a:ext cx="82296" cy="3291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956816"/>
            <a:ext cx="31363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链上 / 钱包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487168"/>
            <a:ext cx="3063240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wagmi v3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viem v2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zustand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Moss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828800"/>
            <a:ext cx="8229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56816"/>
            <a:ext cx="31363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AI / 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87168"/>
            <a:ext cx="3063240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LLM（OpenAI 兼容）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规则引擎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recharts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debug_traceCall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如何体验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3 步跑通演示（测试网 · 免费）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21408"/>
            <a:ext cx="731520" cy="7315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73152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连钱包 + 一键加网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87168"/>
            <a:ext cx="9509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CA3B8"/>
                </a:solidFill>
                <a:latin typeface="Microsoft YaHei"/>
              </a:rPr>
              <a:t>连接 MetaMask/OKX，点「添加网络」自动灌入 Monad 测试网。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11064240" cy="13258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630168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73152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502152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领免费测试币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995928"/>
            <a:ext cx="9509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CA3B8"/>
                </a:solidFill>
                <a:latin typeface="Microsoft YaHei"/>
              </a:rPr>
              <a:t>打开 faucet.monad.xyz，领取免费测试 MON（无真实价值）。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5138928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73152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10912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对话 → 模拟 → 签名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504688"/>
            <a:ext cx="9509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CA3B8"/>
                </a:solidFill>
                <a:latin typeface="Microsoft YaHei"/>
              </a:rPr>
              <a:t>点建议按钮触发模拟，看透镜预览，签名后到 MonadScan 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22D3EE"/>
                </a:solidFill>
                <a:latin typeface="Microsoft YaHei"/>
              </a:rPr>
              <a:t>提示：测试网代币免费、无真实价值，可放心演示每一步。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8288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看清后果，才能放心签名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000" b="0">
                <a:solidFill>
                  <a:srgbClr val="8B5CF6"/>
                </a:solidFill>
                <a:latin typeface="Microsoft YaHei"/>
              </a:rPr>
              <a:t>MonadLens — 让你的每一笔签名都心里有数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0">
                <a:solidFill>
                  <a:srgbClr val="9CA3B8"/>
                </a:solidFill>
                <a:latin typeface="Microsoft YaHei"/>
              </a:rPr>
              <a:t>致谢  Monad Metropolis  黑客松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