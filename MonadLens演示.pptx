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Microsoft YaHei"/>
              </a:rPr>
              <a:t>MonadLens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8B5CF6"/>
                </a:solidFill>
                <a:latin typeface="Microsoft YaHei"/>
              </a:rPr>
              <a:t>透视链 · 看清网络，看清后果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10515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Microsoft YaHei"/>
              </a:rPr>
              <a:t>在签名之前，先看清一笔交易到底会做什么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08960" y="5074920"/>
            <a:ext cx="5943600" cy="640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0" y="5138928"/>
            <a:ext cx="594360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E9E9F2"/>
                </a:solidFill>
                <a:latin typeface="Microsoft YaHei"/>
              </a:rPr>
              <a:t>LXDAO × Monad 黑客松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问题背景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链上交易的「盲签」之痛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6751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2062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29107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常见的 5 种风险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6217920" cy="3383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授权无感知：点一下「授权」，可能交出无限额度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收款方被掉包：看似转给朋友，实际转给黑客地址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金额被膨胀：1 MON 变 100 MON，签名时已晚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夹带授权：一笔操作里偷偷塞进授权调用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签名即失控：交易上链不可逆，错了追不回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1783080"/>
            <a:ext cx="4160520" cy="42062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1783080"/>
            <a:ext cx="82296" cy="4206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26679" y="2011680"/>
            <a:ext cx="3657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59E0B"/>
                </a:solidFill>
                <a:latin typeface="Microsoft YaHei"/>
              </a:rPr>
              <a:t>真正的后果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2743200"/>
            <a:ext cx="3657600" cy="14630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8000" b="1">
                <a:solidFill>
                  <a:srgbClr val="EF4444"/>
                </a:solidFill>
                <a:latin typeface="Microsoft Ya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4297680"/>
            <a:ext cx="3657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800" b="0">
                <a:solidFill>
                  <a:srgbClr val="9CA3B8"/>
                </a:solidFill>
                <a:latin typeface="Microsoft YaHei"/>
              </a:rPr>
              <a:t>后悔药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937760"/>
            <a:ext cx="3657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用户往往在签名之后，才发现资产已经被转走。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产品定位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MonadLens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642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/>
            <a:r>
              <a:rPr sz="1900" b="0">
                <a:solidFill>
                  <a:srgbClr val="E9E9F2"/>
                </a:solidFill>
                <a:latin typeface="Microsoft YaHei"/>
              </a:rPr>
              <a:t>一个把「签名前后果」可视化、可对话、可拦截的链上安全助手。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514600"/>
            <a:ext cx="82296" cy="2926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22D3EE"/>
                </a:solidFill>
                <a:latin typeface="Microsoft YaHei"/>
              </a:rP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实时看板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把链上数据变成看得懂的画面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5968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5968" y="2514600"/>
            <a:ext cx="82296" cy="292608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15968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8B5CF6"/>
                </a:solidFill>
                <a:latin typeface="Microsoft YaHei"/>
              </a:rP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AI 对话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用自然语言规划交易、演示攻击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2514600"/>
            <a:ext cx="3520440" cy="29260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514600"/>
            <a:ext cx="82296" cy="2926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6" y="2834640"/>
            <a:ext cx="35204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4000" b="0">
                <a:solidFill>
                  <a:srgbClr val="F59E0B"/>
                </a:solidFill>
                <a:latin typeface="Microsoft YaHei"/>
              </a:rPr>
              <a:t>🛡️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3749040"/>
            <a:ext cx="35204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后果透镜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66176" y="4389119"/>
            <a:ext cx="315468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签名前模拟并拦截危险操作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三栏一体化：数据 · 对话 · 防护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28346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22D3EE"/>
                </a:solidFill>
                <a:latin typeface="Microsoft YaHei"/>
              </a:rPr>
              <a:t>左栏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实时看板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Monad 链上实时数据
TPS / 出块 / Gas / 活跃榜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5968" y="1828800"/>
            <a:ext cx="82296" cy="28346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8848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中栏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Agent 双脑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4568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自然语言交互
规则引擎 + DeepSeek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1828800"/>
            <a:ext cx="3520440" cy="2834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83296" y="1828800"/>
            <a:ext cx="82296" cy="28346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66176" y="2011680"/>
            <a:ext cx="3154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  <a:latin typeface="Microsoft YaHei"/>
              </a:rPr>
              <a:t>右栏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83296" y="2468880"/>
            <a:ext cx="35204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后果透镜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291840"/>
            <a:ext cx="306324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签名前 Moss 模拟
预览资金流向与授权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83480"/>
            <a:ext cx="11064240" cy="9601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数据流：钱包 / 链上  →  看板可视化  →  Agent 规划  →  Moss 模拟  →  透镜拦截 / 放行  →  签名广播  →  链上验证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实时链上看板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64008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601675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你能看到什么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94360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TPS 实时估算（约 40 tx/s）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出块间隔约 0.3s，毫秒级刷新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Gas 费用趋势图，提前感知拥堵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活跃地址 / 合约榜 Top 5 实时更新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WS 与 HTTP 竞速，慢节点也不卡死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78040" y="1783080"/>
            <a:ext cx="44348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780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06640" y="1920240"/>
            <a:ext cx="393192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Gas 趋势（示意）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56032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52360" y="333756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52360" y="411480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4892040"/>
            <a:ext cx="4023360" cy="10972"/>
          </a:xfrm>
          <a:prstGeom prst="rect">
            <a:avLst/>
          </a:prstGeom>
          <a:solidFill>
            <a:srgbClr val="332E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443215" y="50657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74736" y="424281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79" y="51206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06256" y="460857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429768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637776" y="35112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466344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369296" y="39684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92640" y="35661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1100815" y="3054096"/>
            <a:ext cx="109728" cy="109728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424160" y="4023360"/>
            <a:ext cx="45720" cy="4572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532120"/>
            <a:ext cx="39319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0">
                <a:solidFill>
                  <a:srgbClr val="9CA3B8"/>
                </a:solidFill>
                <a:latin typeface="Microsoft YaHei"/>
              </a:rPr>
              <a:t>实时数据，一眼看懂网络状态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Agent 双脑 AI 对话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23317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01091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🧠 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493776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快、确定，覆盖已知意图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交易规划、攻击演示一键触发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394960" cy="23317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82296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55664" y="1911096"/>
            <a:ext cx="501091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✨ DeepSeek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41448"/>
            <a:ext cx="4937760" cy="1508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自然、智能，理解自由提问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•  解释「为什么先模拟再签名」等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343400"/>
            <a:ext cx="11064240" cy="16002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343400"/>
            <a:ext cx="82296" cy="1600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Microsoft YaHei"/>
              </a:rPr>
              <a:t>🔄 自动降级：LLM 不可用时切回规则引擎，永不掉线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029200"/>
            <a:ext cx="105156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两条大脑互为备份，演示现场再也不怕「AI 抽风」导致功能失灵。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后果透镜（签名前模拟）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48640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82296" cy="41605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11096"/>
            <a:ext cx="510235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它模拟什么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41448"/>
            <a:ext cx="502920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资金流向：谁转出、谁收到、多少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授权范围：交出的是定额还是无限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余额变化：签名前后的净变动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收款方对账：有没有偷偷换地址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783080"/>
            <a:ext cx="5349240" cy="41605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783080"/>
            <a:ext cx="82296" cy="416052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1384" y="1911096"/>
            <a:ext cx="49651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Microsoft YaHei"/>
              </a:rPr>
              <a:t>为什么重要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41448"/>
            <a:ext cx="4892040" cy="33375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基于 Moss SDK 的 debug_traceCall 真模拟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主网 0 MON 也能跑（内部预充 1000 MON）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把「看不见的后果」变成「看得见的清单」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9E9F2"/>
                </a:solidFill>
                <a:latin typeface="Microsoft YaHei"/>
              </a:rPr>
              <a:t>•  先把风险看清楚，再决定要不要签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核心功能 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5 类攻击护栏 — 签名前拦截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2084831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Microsoft YaHei"/>
              </a:rPr>
              <a:t>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2084831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收款方掉包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08960"/>
            <a:ext cx="2084831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全部 blocked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88919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88919" y="2011680"/>
            <a:ext cx="2084831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Microsoft YaHei"/>
              </a:rPr>
              <a:t>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19" y="2697480"/>
            <a:ext cx="2084831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夹带授权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19" y="3108960"/>
            <a:ext cx="2084831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全部 blocked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198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198" y="2011680"/>
            <a:ext cx="2084831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Microsoft YaHei"/>
              </a:rPr>
              <a:t>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98" y="2697480"/>
            <a:ext cx="2084831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金额膨胀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198" y="3108960"/>
            <a:ext cx="2084831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全部 blocked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77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77" y="2011680"/>
            <a:ext cx="2084831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Microsoft YaHei"/>
              </a:rPr>
              <a:t>♾️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77" y="2697480"/>
            <a:ext cx="2084831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无限授权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77" y="3108960"/>
            <a:ext cx="2084831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全部 blocked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56" y="1828800"/>
            <a:ext cx="2084831" cy="16916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56" y="2011680"/>
            <a:ext cx="2084831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0">
                <a:solidFill>
                  <a:srgbClr val="F59E0B"/>
                </a:solidFill>
                <a:latin typeface="Microsoft YaHei"/>
              </a:rPr>
              <a:t>✍️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56" y="2697480"/>
            <a:ext cx="2084831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YaHei"/>
              </a:rPr>
              <a:t>篡改后签名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56" y="3108960"/>
            <a:ext cx="2084831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200" b="1">
                <a:solidFill>
                  <a:srgbClr val="22D3EE"/>
                </a:solidFill>
                <a:latin typeface="Microsoft YaHei"/>
              </a:rPr>
              <a:t>全部 blocked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886200"/>
            <a:ext cx="11064240" cy="205740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886200"/>
            <a:ext cx="82296" cy="20574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02336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危险操作对比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572000"/>
            <a:ext cx="50292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9CA3B8"/>
                </a:solidFill>
                <a:latin typeface="Microsoft YaHei"/>
              </a:rPr>
              <a:t>普通钱包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直接放行 → 资产悄悄流失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572000"/>
            <a:ext cx="5029200" cy="1188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500" b="1">
                <a:solidFill>
                  <a:srgbClr val="22D3EE"/>
                </a:solidFill>
                <a:latin typeface="Microsoft YaHei"/>
              </a:rPr>
              <a:t>MonadLens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E9E9F2"/>
                </a:solidFill>
                <a:latin typeface="Microsoft YaHei"/>
              </a:rPr>
              <a:t>标红告警 + 锁死签名按钮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端到端演示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一条完整的可信交易闭环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① 连钱包</a:t>
            </a:r>
          </a:p>
        </p:txBody>
      </p:sp>
      <p:sp>
        <p:nvSpPr>
          <p:cNvPr id="7" name="Chevron 6"/>
          <p:cNvSpPr/>
          <p:nvPr/>
        </p:nvSpPr>
        <p:spPr>
          <a:xfrm>
            <a:off x="2286000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414016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14016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② Agent 对话</a:t>
            </a:r>
          </a:p>
        </p:txBody>
      </p:sp>
      <p:sp>
        <p:nvSpPr>
          <p:cNvPr id="10" name="Chevron 9"/>
          <p:cNvSpPr/>
          <p:nvPr/>
        </p:nvSpPr>
        <p:spPr>
          <a:xfrm>
            <a:off x="4151376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79392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③ Moss 模拟预览</a:t>
            </a:r>
          </a:p>
        </p:txBody>
      </p:sp>
      <p:sp>
        <p:nvSpPr>
          <p:cNvPr id="13" name="Chevron 12"/>
          <p:cNvSpPr/>
          <p:nvPr/>
        </p:nvSpPr>
        <p:spPr>
          <a:xfrm>
            <a:off x="6016752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44768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④ 用户确认</a:t>
            </a:r>
          </a:p>
        </p:txBody>
      </p:sp>
      <p:sp>
        <p:nvSpPr>
          <p:cNvPr id="16" name="Chevron 15"/>
          <p:cNvSpPr/>
          <p:nvPr/>
        </p:nvSpPr>
        <p:spPr>
          <a:xfrm>
            <a:off x="7882128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10144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10144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⑤ 签名广播</a:t>
            </a:r>
          </a:p>
        </p:txBody>
      </p:sp>
      <p:sp>
        <p:nvSpPr>
          <p:cNvPr id="19" name="Chevron 18"/>
          <p:cNvSpPr/>
          <p:nvPr/>
        </p:nvSpPr>
        <p:spPr>
          <a:xfrm>
            <a:off x="9747504" y="2423160"/>
            <a:ext cx="146304" cy="457200"/>
          </a:xfrm>
          <a:prstGeom prst="chevron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0" y="2011680"/>
            <a:ext cx="1755648" cy="128016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5520" y="2103120"/>
            <a:ext cx="1755648" cy="10972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⑥ 链上验证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749039"/>
            <a:ext cx="11064240" cy="20116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749039"/>
            <a:ext cx="82296" cy="20116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800" b="1">
                <a:solidFill>
                  <a:srgbClr val="22D3EE"/>
                </a:solidFill>
                <a:latin typeface="Microsoft YaHei"/>
              </a:rPr>
              <a:t>✅ 已实测：在 Monad 测试网真实签名并上链成功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572000"/>
            <a:ext cx="10515600" cy="10058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9CA3B8"/>
                </a:solidFill>
                <a:latin typeface="Microsoft YaHei"/>
              </a:rPr>
              <a:t>交易哈希已在 MonadScan 验证通过 —— 模拟、签名、广播、验证全链路跑通，不是 Demo 截图，是真上链。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技术栈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现代、稳健、可演示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82296" cy="32918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前端 / 框架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Next.js 16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React 19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Tailwind v4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TypeScript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5968" y="1828800"/>
            <a:ext cx="82296" cy="32918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链上 / 钱包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wagmi v3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viem v2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zustand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Moss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1828800"/>
            <a:ext cx="3520440" cy="329184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83296" y="1828800"/>
            <a:ext cx="82296" cy="32918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956816"/>
            <a:ext cx="313639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AI / 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87168"/>
            <a:ext cx="3063240" cy="2468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DeepSeek LLM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规则引擎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recharts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E9E9F2"/>
                </a:solidFill>
                <a:latin typeface="Microsoft YaHei"/>
              </a:rPr>
              <a:t>•  debug_traceCall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300" b="1">
                <a:solidFill>
                  <a:srgbClr val="8B5CF6"/>
                </a:solidFill>
                <a:latin typeface="Microsoft YaHei"/>
              </a:rPr>
              <a:t>如何体验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06424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3 步跑通演示（测试网 · 免费）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2121408"/>
            <a:ext cx="731520" cy="73152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2140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199339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连钱包 + 一键加网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48716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连接 MetaMask/OKX，点「添加网络」自动灌入 Monad 测试网。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3630168"/>
            <a:ext cx="731520" cy="73152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50215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领免费测试币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399592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打开 faucet.monad.xyz，领取免费测试 MON（无真实价值）。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46320"/>
            <a:ext cx="11064240" cy="132588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5138928"/>
            <a:ext cx="731520" cy="73152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138928"/>
            <a:ext cx="73152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5010912"/>
            <a:ext cx="95097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Microsoft YaHei"/>
              </a:rPr>
              <a:t>对话 → 模拟 → 签名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04688"/>
            <a:ext cx="950976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400" b="0">
                <a:solidFill>
                  <a:srgbClr val="9CA3B8"/>
                </a:solidFill>
                <a:latin typeface="Microsoft YaHei"/>
              </a:rPr>
              <a:t>点建议按钮触发模拟，看透镜预览，签名后到 MonadScan 验证。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10000"/>
            </a:avLst>
          </a:prstGeom>
          <a:solidFill>
            <a:srgbClr val="221E4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/>
            <a:r>
              <a:rPr sz="1300" b="0">
                <a:solidFill>
                  <a:srgbClr val="22D3EE"/>
                </a:solidFill>
                <a:latin typeface="Microsoft YaHei"/>
              </a:rPr>
              <a:t>提示：测试网代币免费、无真实价值，可放心演示每一步。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/>
            <a:r>
              <a:rPr sz="1000" b="0">
                <a:solidFill>
                  <a:srgbClr val="9CA3B8"/>
                </a:solidFill>
                <a:latin typeface="Microsoft YaHei"/>
              </a:rPr>
              <a:t>MonadLens · 看清网络，看清后果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419088"/>
            <a:ext cx="822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/>
            <a:r>
              <a:rPr sz="1000" b="0">
                <a:solidFill>
                  <a:srgbClr val="9CA3B8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2191695" cy="18288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Microsoft YaHei"/>
              </a:rPr>
              <a:t>看清后果，才能放心签名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74720"/>
            <a:ext cx="1051560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2000" b="0">
                <a:solidFill>
                  <a:srgbClr val="8B5CF6"/>
                </a:solidFill>
                <a:latin typeface="Microsoft YaHei"/>
              </a:rPr>
              <a:t>MonadLens — 让你的每一笔签名都心里有数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/>
            <a:r>
              <a:rPr sz="1500" b="0">
                <a:solidFill>
                  <a:srgbClr val="9CA3B8"/>
                </a:solidFill>
                <a:latin typeface="Microsoft YaHei"/>
              </a:rPr>
              <a:t>致谢  LXDAO × Monad  黑客松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